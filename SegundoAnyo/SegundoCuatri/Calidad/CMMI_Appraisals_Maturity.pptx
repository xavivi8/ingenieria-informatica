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018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Evaluaciones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B33-46F1-A934-BA87963A5A68}"/>
              </c:ext>
            </c:extLst>
          </c:dPt>
          <c:dPt>
            <c:idx val="1"/>
            <c:bubble3D val="0"/>
            <c:spPr>
              <a:solidFill>
                <a:srgbClr val="2ECC7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B33-46F1-A934-BA87963A5A68}"/>
              </c:ext>
            </c:extLst>
          </c:dPt>
          <c:dPt>
            <c:idx val="2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B33-46F1-A934-BA87963A5A68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B33-46F1-A934-BA87963A5A68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33-46F1-A934-BA87963A5A68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B33-46F1-A934-BA87963A5A6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ML3 – Defined</c:v>
                </c:pt>
                <c:pt idx="1">
                  <c:v>ML5 – Optimizing</c:v>
                </c:pt>
                <c:pt idx="2">
                  <c:v>ML1/ML2/ML4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77</c:v>
                </c:pt>
                <c:pt idx="1">
                  <c:v>21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B33-46F1-A934-BA87963A5A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D1B3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117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297680"/>
            <a:ext cx="9144000" cy="850392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0" y="-731520"/>
            <a:ext cx="4114800" cy="4114800"/>
          </a:xfrm>
          <a:prstGeom prst="ellipse">
            <a:avLst/>
          </a:prstGeom>
          <a:solidFill>
            <a:srgbClr val="1A3A6B">
              <a:alpha val="40000"/>
            </a:srgbClr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274320"/>
            <a:ext cx="2560320" cy="25603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 TECHNICAL REPORT · MAYO 2025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9144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Appraisals by</a:t>
            </a:r>
            <a:endParaRPr lang="en-US" sz="4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Level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20040" y="32461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la sección incluida en el último informe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por el CMMI Institute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0040" y="43159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19.221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004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Evaluaciones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14600" y="43159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17.416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146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evaluadas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09160" y="43159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logro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objetivos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03720" y="43159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0372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analizador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MIDE ESTA SECCIÓN?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265176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51460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67.000 objetivos de rendimiento en 19.221 evaluaciones aprobadas entre 2019 y 2024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23444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234440"/>
            <a:ext cx="265176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00400" y="2057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mide?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251460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qué nivel de madurez (ML) se evalúan las organizaciones de todo el mundo con CMMI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234440"/>
            <a:ext cx="265176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🏆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2057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sirve?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51460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Demuestra el compromiso con la calidad y mejora continua, reforzando la ventaja competitiva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608576"/>
            <a:ext cx="8321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Según el Tema 5, CMMI asigna 6 niveles de madurez (del 0 al 5) como indicador cualitativo del estado del proceso software de la organización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GLOBAL DE EVALUACIONES POR NIVEL DE MADUREZ</a:t>
            </a:r>
            <a:endParaRPr lang="en-US" sz="1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777240"/>
          <a:ext cx="4754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822960"/>
            <a:ext cx="3566160" cy="118872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303520" y="822960"/>
            <a:ext cx="91440" cy="1188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5532120" y="9144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53212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ML3 · Defined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32120" y="17373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más adoptado a nivel mundial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303520" y="2194560"/>
            <a:ext cx="3566160" cy="118872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303520" y="2194560"/>
            <a:ext cx="91440" cy="1188720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2" name="Text 9"/>
          <p:cNvSpPr/>
          <p:nvPr/>
        </p:nvSpPr>
        <p:spPr>
          <a:xfrm>
            <a:off x="5532120" y="22860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5532120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ML5 · Optimizing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532120" y="31089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Organizaciones en el máximo nivel de excelencia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303520" y="3566160"/>
            <a:ext cx="3566160" cy="118872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03520" y="3566160"/>
            <a:ext cx="91440" cy="11887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5532120" y="36576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5532120" y="4224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ML1 / ML2 / ML4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532120" y="44805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 iniciales o intermedios — tendencia al alza en 2024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NIVELES DE MADUREZ CMMI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82880" y="987552"/>
            <a:ext cx="1682496" cy="2999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87552"/>
            <a:ext cx="1682496" cy="64008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1060704"/>
            <a:ext cx="1682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28600" y="16093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" y="1883664"/>
            <a:ext cx="1463040" cy="2743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" y="1947672"/>
            <a:ext cx="1536192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Prácticas básicas e incompletas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inicial: empieza a abordar los objetivos del Área de Práctica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Comienza a identificar problemas de rendimiento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82880" y="3813048"/>
            <a:ext cx="1682496" cy="17373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" y="3831336"/>
            <a:ext cx="16824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11096" y="987552"/>
            <a:ext cx="1682496" cy="2999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911096" y="987552"/>
            <a:ext cx="1682496" cy="6400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5" name="Text 13"/>
          <p:cNvSpPr/>
          <p:nvPr/>
        </p:nvSpPr>
        <p:spPr>
          <a:xfrm>
            <a:off x="1911096" y="1060704"/>
            <a:ext cx="1682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956816" y="16093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20824" y="1883664"/>
            <a:ext cx="1463040" cy="2743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8" name="Text 16"/>
          <p:cNvSpPr/>
          <p:nvPr/>
        </p:nvSpPr>
        <p:spPr>
          <a:xfrm>
            <a:off x="1984248" y="1947672"/>
            <a:ext cx="1536192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todas las prácticas de ML1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de prácticas simple pero completo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activos organizacionales compartidos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y monitoriza el progreso hacia objetivos del proyecto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911096" y="3639312"/>
            <a:ext cx="1682496" cy="34747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1911096" y="3657600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39312" y="987552"/>
            <a:ext cx="1682496" cy="2999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39312" y="987552"/>
            <a:ext cx="1682496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3" name="Text 21"/>
          <p:cNvSpPr/>
          <p:nvPr/>
        </p:nvSpPr>
        <p:spPr>
          <a:xfrm>
            <a:off x="3639312" y="1060704"/>
            <a:ext cx="1682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3685032" y="16093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49040" y="1883664"/>
            <a:ext cx="1463040" cy="2743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6" name="Text 24"/>
          <p:cNvSpPr/>
          <p:nvPr/>
        </p:nvSpPr>
        <p:spPr>
          <a:xfrm>
            <a:off x="3712464" y="1947672"/>
            <a:ext cx="1536192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sobre las prácticas de ML2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estándares org. y adaptación al proyecto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usan y generan activos organizacionales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dual: proyecto y objetivos de la organización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39312" y="3465576"/>
            <a:ext cx="1682496" cy="5212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3639312" y="3483864"/>
            <a:ext cx="16824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367528" y="987552"/>
            <a:ext cx="1682496" cy="2999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67528" y="987552"/>
            <a:ext cx="1682496" cy="64008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31" name="Text 29"/>
          <p:cNvSpPr/>
          <p:nvPr/>
        </p:nvSpPr>
        <p:spPr>
          <a:xfrm>
            <a:off x="5367528" y="1060704"/>
            <a:ext cx="1682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5413248" y="16093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Managed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77256" y="1883664"/>
            <a:ext cx="1463040" cy="2743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4" name="Text 32"/>
          <p:cNvSpPr/>
          <p:nvPr/>
        </p:nvSpPr>
        <p:spPr>
          <a:xfrm>
            <a:off x="5440680" y="1947672"/>
            <a:ext cx="1536192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sobre las prácticas de ML3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técnicas estadísticas y cuantitativas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 activamente la variación de procesos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la capacidad de alcanzar los QPPOs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367528" y="3291840"/>
            <a:ext cx="1682496" cy="694944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36" name="Text 34"/>
          <p:cNvSpPr/>
          <p:nvPr/>
        </p:nvSpPr>
        <p:spPr>
          <a:xfrm>
            <a:off x="5367528" y="3310128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ML4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095744" y="987552"/>
            <a:ext cx="1682496" cy="2999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095744" y="987552"/>
            <a:ext cx="1682496" cy="6400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39" name="Text 37"/>
          <p:cNvSpPr/>
          <p:nvPr/>
        </p:nvSpPr>
        <p:spPr>
          <a:xfrm>
            <a:off x="7095744" y="1060704"/>
            <a:ext cx="1682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7141464" y="16093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205472" y="1883664"/>
            <a:ext cx="1463040" cy="2743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42" name="Text 40"/>
          <p:cNvSpPr/>
          <p:nvPr/>
        </p:nvSpPr>
        <p:spPr>
          <a:xfrm>
            <a:off x="7168896" y="1947672"/>
            <a:ext cx="1536192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sobre las prácticas de ML4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 procesos estables y capaces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estadística para mejora continua sostenida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alcanzar los QPPOs de forma sistemática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095744" y="3118104"/>
            <a:ext cx="1682496" cy="868680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44" name="Text 42"/>
          <p:cNvSpPr/>
          <p:nvPr/>
        </p:nvSpPr>
        <p:spPr>
          <a:xfrm>
            <a:off x="7095744" y="3136392"/>
            <a:ext cx="1682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ML5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182880" y="4133088"/>
            <a:ext cx="8778240" cy="5486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46" name="Text 44"/>
          <p:cNvSpPr/>
          <p:nvPr/>
        </p:nvSpPr>
        <p:spPr>
          <a:xfrm>
            <a:off x="182880" y="418795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Creciente madurez del proceso 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20040" y="8046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ML3 · DEFINED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" y="80467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más elegido en todo el mundo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63040"/>
            <a:ext cx="416052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645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24128" y="16642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sobre ML2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121408"/>
            <a:ext cx="38221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 todas las prácticas del nivel Managed y las amplía con estándares organizacionales.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46304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463040"/>
            <a:ext cx="416052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645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58968" y="16642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estandarizados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121408"/>
            <a:ext cx="38221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el uso de estándares organizacionales y su adaptación a las características de cada proyecto.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200400"/>
            <a:ext cx="416052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0" name="Shape 18"/>
          <p:cNvSpPr/>
          <p:nvPr/>
        </p:nvSpPr>
        <p:spPr>
          <a:xfrm>
            <a:off x="411480" y="338328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340156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organizacionales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858768"/>
            <a:ext cx="38221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contribuyen a los activos compartidos de la organización y se benefician de ellos.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2004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200400"/>
            <a:ext cx="416052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6" name="Shape 24"/>
          <p:cNvSpPr/>
          <p:nvPr/>
        </p:nvSpPr>
        <p:spPr>
          <a:xfrm>
            <a:off x="4846320" y="338328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58968" y="340156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duales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92040" y="3858768"/>
            <a:ext cx="38221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en lograr tanto los objetivos de rendimiento del proyecto como los de la organización.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645152"/>
            <a:ext cx="8595360" cy="347472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467258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Tema 5: Alcanzar ML3 implica haber completado la fase de Instalación del SPI (aplicación de SPR). Es el nivel mínimo exigido en contratos públicos y licitaciones internacionales.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20040" y="8046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ML5 · OPTIMIZING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" y="80467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máximo de madurez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63040"/>
            <a:ext cx="4023360" cy="6400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727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caracteriza a ML5?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20116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sobre todas las prácticas de ML4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técnicas estadísticas y cuantitativas avanzadas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 procesos estables y capaces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 a la mejora de los QPPOs (Quality and Process Performance Objectives)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mejora continua se convierte en cultura organizacional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4297680" cy="155448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Insight clave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09160" y="1920240"/>
            <a:ext cx="4023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21% que elige ML5 refleja que las grandes organizaciones con experiencia acumulada en CMMI tienden a saltar directamente de ML3 a ML5, omitiendo ML4 como objetivo de evaluación.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3200400"/>
            <a:ext cx="42976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3200400"/>
            <a:ext cx="4297680" cy="6400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33101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mejoras en organizaciones ML5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3703320"/>
            <a:ext cx="3977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Density: −26%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Productivity: +24%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Delivery: +18%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Satisfaction: +18%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645152"/>
            <a:ext cx="8595360" cy="347472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467258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Tema 5: ML5 corresponde a organizaciones que han completado el ciclo SPI y han institucionalizado la mejora continua como valor central.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ML1 / ML2 / ML4  ·  Solo el 2% de las evaluaciones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2743200" cy="38221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78992"/>
            <a:ext cx="2743200" cy="5029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1556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1664208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 de cualquier organización que comienza con CMMI.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5603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incompleto de prácticas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básico e inicial para cumplir los objetivos del Área de Práctica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Comienza a identificar y abordar problemas de rendimiento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uso sistemático de activos organizacionales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1078992"/>
            <a:ext cx="2743200" cy="38221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078992"/>
            <a:ext cx="2743200" cy="5029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11556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4408" y="1664208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organización gestiona sus proyectos de forma estructurada pero aún sin estándares compartidos.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46120" y="2377440"/>
            <a:ext cx="25603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todas las prácticas de ML1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simple pero completo de prácticas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activos organizacionales compartidos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y monitoriza el progreso hacia los objetivos del proyecto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 y recursos claramente definidos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1078992"/>
            <a:ext cx="2743200" cy="38221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078992"/>
            <a:ext cx="2743200" cy="50292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11556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Quantitatively</a:t>
            </a:r>
            <a:endParaRPr lang="en-US" sz="1100" dirty="0"/>
          </a:p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0488" y="1664208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avanzado que exige gestión estadística de procesos. Alta inversión requerida.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72200" y="2377440"/>
            <a:ext cx="25603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sobre todas las prácticas de ML3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técnicas estadísticas y cuantitativas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 la variación de procesos de forma activa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la capacidad de alcanzar los QPPOs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madurez organizacional y datos históricos sólidos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4636008"/>
            <a:ext cx="8686800" cy="3657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6634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2024: ML1/ML2/ML4 subieron del 1% al 2%  ·  ¿Por qué ML4 apenas se elige? El Tema 5 lo explica: la ratio coste-beneficio frena su adopción frente a ML3.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ALCANZAR UN NIVEL DE MADUREZ: CREDIBILIDAD Y VENTAJA COMPETITIVA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1234440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91440" cy="1234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96112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"Alcanzar un nivel de madurez (ML) o de capacidad (CL) demuestra el compromiso de la organización con la calidad y la mejora continua del rendimiento. Este reconocimiento no solo refuerza la credibilidad ante sus clientes, sino que también consolida su ventaja competitiva en el mercado."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847088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CMMI Technical Report, Mayo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2331720"/>
            <a:ext cx="2743200" cy="256032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331720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2423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🤝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576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Credibilidad ante clientes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" y="3383280"/>
            <a:ext cx="25237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organizaciones certificadas demuestran adherencia a las mejores prácticas CMMI, generando confianza en clientes y stakeholders.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331720"/>
            <a:ext cx="2743200" cy="256032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2331720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423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29184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competitiva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0128" y="3383280"/>
            <a:ext cx="25237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Diferenciarse de la competencia en licitaciones, contratos públicos y mercados internacionales donde CMMI es requisito.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2331720"/>
            <a:ext cx="2743200" cy="2560320"/>
          </a:xfrm>
          <a:prstGeom prst="rect">
            <a:avLst/>
          </a:prstGeom>
          <a:solidFill>
            <a:srgbClr val="1A3A6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2331720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2423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continua sostenida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36208" y="3383280"/>
            <a:ext cx="25237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 establece un listón que se eleva automáticamente entre evaluaciones, forzando a la organización a seguir mejorando.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0D3A6B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470001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Tema 5: SPI busca mejorar la calidad del proceso y, como consecuencia, la calidad del software entregado. La certificación CMMI es el aval externo de ese proceso.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Y REFLEXIÓN CRÍTICA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109728" cy="16276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35331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3716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re-evaluaciones dominan el dato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938528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certificaciones CMMI tienen validez de 3 años (Tema 5). Gran parte de las evaluaciones son renovaciones de ML3/ML5, confirmando que SPI es un proceso continuo, no un logro puntual.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18872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188720"/>
            <a:ext cx="109728" cy="1627632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1353312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77840" y="13716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ML3 → ML5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1938528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21% en ML5 evidencia que, una vez consolidado ML3, las empresas más maduras optan directamente por el nivel máximo en su siguiente evaluación.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01752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017520"/>
            <a:ext cx="109728" cy="16276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3182112"/>
            <a:ext cx="502920" cy="50292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182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32004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de logro de objetivos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767328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organizaciones evaluadas, independientemente de su nivel, alcanzan el 91% de sus objetivos de rendimiento. Adoptar CMMI genera resultados reales en todos los niveles.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301752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017520"/>
            <a:ext cx="109728" cy="1627632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0" y="3182112"/>
            <a:ext cx="502920" cy="50292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3182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77840" y="32004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se vuelve hábito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767328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 convierte los procesos críticos en rutina, liberando a los equipos para la innovación. Esto conecta directamente con la fase de Evaluación del SPI (Tema 5).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ESPAÑA EN EL CONTEXTO GLOBAL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73152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326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 España: 5º país del mundo y 1º de Europa en evaluaciones CMMI — 0,6% del total global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755648"/>
            <a:ext cx="4206240" cy="512064"/>
          </a:xfrm>
          <a:prstGeom prst="rect">
            <a:avLst/>
          </a:prstGeom>
          <a:solidFill>
            <a:srgbClr val="0D3A6B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75564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75564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7556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76,3%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322576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32257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2257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Unidos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232257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889504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88950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8895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6,2%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456432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" y="345643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4º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45643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México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34564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4023360"/>
            <a:ext cx="4206240" cy="512064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3" name="Shape 21"/>
          <p:cNvSpPr/>
          <p:nvPr/>
        </p:nvSpPr>
        <p:spPr>
          <a:xfrm>
            <a:off x="274320" y="4023360"/>
            <a:ext cx="109728" cy="5120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" y="402336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5º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0233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España 🇪🇸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402336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55648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28" name="Text 26"/>
          <p:cNvSpPr/>
          <p:nvPr/>
        </p:nvSpPr>
        <p:spPr>
          <a:xfrm>
            <a:off x="4873752" y="175564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6º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94960" y="175564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94960" y="17556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09160" y="2322576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32" name="Text 30"/>
          <p:cNvSpPr/>
          <p:nvPr/>
        </p:nvSpPr>
        <p:spPr>
          <a:xfrm>
            <a:off x="4873752" y="232257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94960" y="232257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 del Sur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232257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889504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36" name="Text 34"/>
          <p:cNvSpPr/>
          <p:nvPr/>
        </p:nvSpPr>
        <p:spPr>
          <a:xfrm>
            <a:off x="4873752" y="288950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394960" y="28895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9496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709160" y="3456432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40" name="Text 38"/>
          <p:cNvSpPr/>
          <p:nvPr/>
        </p:nvSpPr>
        <p:spPr>
          <a:xfrm>
            <a:off x="4873752" y="345643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9º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94960" y="345643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Arabia Saudí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94960" y="34564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0,2%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09160" y="4023360"/>
            <a:ext cx="4206240" cy="512064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44" name="Text 42"/>
          <p:cNvSpPr/>
          <p:nvPr/>
        </p:nvSpPr>
        <p:spPr>
          <a:xfrm>
            <a:off x="4873752" y="402336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10º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94960" y="40233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Japón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394960" y="402336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74320" y="4645152"/>
            <a:ext cx="8595360" cy="347472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48" name="Text 46"/>
          <p:cNvSpPr/>
          <p:nvPr/>
        </p:nvSpPr>
        <p:spPr>
          <a:xfrm>
            <a:off x="411480" y="46817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empresas españolas del sector TIC apuestan por ML3 y ML5 como estándar de calidad en el mercado internacional.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4572000" cy="4572000"/>
          </a:xfrm>
          <a:prstGeom prst="ellipse">
            <a:avLst/>
          </a:prstGeom>
          <a:solidFill>
            <a:srgbClr val="1A3A6B">
              <a:alpha val="30000"/>
            </a:srgbClr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96C7">
              <a:alpha val="20000"/>
            </a:srgbClr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658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sección Appraisals by Maturity Level revela: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8503920" cy="749808"/>
          </a:xfrm>
          <a:prstGeom prst="rect">
            <a:avLst/>
          </a:prstGeom>
          <a:solidFill>
            <a:srgbClr val="1A3A6B">
              <a:alpha val="7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984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ML3 como estándar global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1280160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77% de las organizaciones se evalúa en ML3. Es el umbral mínimo exigido en el mercado y el punto de entrada al ciclo maduro de SPI.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344168"/>
            <a:ext cx="0" cy="530352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2121408"/>
            <a:ext cx="8503920" cy="749808"/>
          </a:xfrm>
          <a:prstGeom prst="rect">
            <a:avLst/>
          </a:prstGeom>
          <a:solidFill>
            <a:srgbClr val="1A3A6B">
              <a:alpha val="7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854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ML5 como objetivo de excelencia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167128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21% en ML5 confirma la institucionalización de la mejora continua en las org. más maduras, conectando con la fase de Evaluación del Tema 5.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0" y="2231136"/>
            <a:ext cx="0" cy="530352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3008376"/>
            <a:ext cx="8503920" cy="749808"/>
          </a:xfrm>
          <a:prstGeom prst="rect">
            <a:avLst/>
          </a:prstGeom>
          <a:solidFill>
            <a:srgbClr val="1A3A6B">
              <a:alpha val="7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 Ratio coste-beneficio siempre presente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3054096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adopción de ML4 demuestra que las organizaciones evalúan el retorno de cada nivel, tal como señala el Tema 5 sobre la inversión en SPI.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0" y="3118104"/>
            <a:ext cx="0" cy="530352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3895344"/>
            <a:ext cx="8503920" cy="749808"/>
          </a:xfrm>
          <a:prstGeom prst="rect">
            <a:avLst/>
          </a:prstGeom>
          <a:solidFill>
            <a:srgbClr val="1A3A6B">
              <a:alpha val="7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9593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Credibilidad y ventaja competitiva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0" y="394106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certificación CMMI refuerza la credibilidad ante clientes y consolida la ventaja competitiva en el mercado, según el propio informe.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0" y="4005072"/>
            <a:ext cx="0" cy="530352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CMMI Technical Report – Performance Results (Mayo 2025) · CMMI Institute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1375</Words>
  <Application>Microsoft Office PowerPoint</Application>
  <PresentationFormat>Presentación en pantalla (16:9)</PresentationFormat>
  <Paragraphs>214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Appraisals by Maturity Level – CMMI 2025</dc:title>
  <dc:subject>PptxGenJS Presentation</dc:subject>
  <dc:creator>PptxGenJS</dc:creator>
  <cp:lastModifiedBy>Francisco Javier Martín-Lunas Escobar</cp:lastModifiedBy>
  <cp:revision>1</cp:revision>
  <dcterms:created xsi:type="dcterms:W3CDTF">2026-03-10T16:26:40Z</dcterms:created>
  <dcterms:modified xsi:type="dcterms:W3CDTF">2026-03-20T09:30:45Z</dcterms:modified>
</cp:coreProperties>
</file>