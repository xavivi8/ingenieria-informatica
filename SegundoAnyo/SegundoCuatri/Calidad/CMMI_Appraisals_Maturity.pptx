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Evaluaciones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ML3 – Defined</c:v>
                </c:pt>
                <c:pt idx="1">
                  <c:v>ML5 – Optimizing</c:v>
                </c:pt>
                <c:pt idx="2">
                  <c:v>ML1/ML2/ML4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77</c:v>
                </c:pt>
                <c:pt idx="1">
                  <c:v>21</c:v>
                </c:pt>
                <c:pt idx="2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5039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 TECHNICAL REPORT · MAYO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6858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Appraisals by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sección incluida en el último informe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por el CMMI Institute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19.221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17.416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logro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objetivos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0372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372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MIDE ESTA SECCIÓN?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67.000 objetivos de rendimiento en 19.221 evaluaciones aprobadas entre 2019 y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mide?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qué nivel de madurez (ML) se evalúan las organizaciones de todo el mundo con CMMI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265176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sirve?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 el compromiso con la calidad y mejora continua, reforzando la ventaja competitiva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608576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Según el Tema 5, CMMI asigna 6 niveles de madurez (del 0 al 5) como indicador cualitativo del estado del proceso software de la organización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GLOBAL DE EVALUACIONES POR NIVEL DE MADUREZ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7548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822960"/>
            <a:ext cx="3566160" cy="11887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822960"/>
            <a:ext cx="91440" cy="1188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5532120" y="9144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532120" y="1481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ML3 · Defined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32120" y="17373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más adoptado a nivel mundial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3520" y="2194560"/>
            <a:ext cx="3566160" cy="11887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2194560"/>
            <a:ext cx="91440" cy="11887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5532120" y="2286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5532120" y="28529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ML5 · Optimizing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53212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en el máximo nivel de excelencia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03520" y="3566160"/>
            <a:ext cx="3566160" cy="11887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566160"/>
            <a:ext cx="91440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553212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553212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/ ML2 / ML4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32120" y="44805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iniciales o intermedios — tendencia al alza en 2024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NIVELES DE MADUREZ CMMI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87552"/>
            <a:ext cx="1682496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87552"/>
            <a:ext cx="1682496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6070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" y="1609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883664"/>
            <a:ext cx="146304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947672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básicas e incompletas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inicial: empieza a abordar los objetivos del Área de Práctica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 a identificar problemas de rendimiento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" y="3813048"/>
            <a:ext cx="1682496" cy="17373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3831336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11096" y="987552"/>
            <a:ext cx="1682496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11096" y="987552"/>
            <a:ext cx="1682496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1911096" y="106070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956816" y="1609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20824" y="1883664"/>
            <a:ext cx="146304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Text 16"/>
          <p:cNvSpPr/>
          <p:nvPr/>
        </p:nvSpPr>
        <p:spPr>
          <a:xfrm>
            <a:off x="1984248" y="1947672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todas las prácticas de ML1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prácticas simple pero completo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activos organizacionales compartidos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y monitoriza el progreso hacia objetivos del proyecto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11096" y="3639312"/>
            <a:ext cx="1682496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1911096" y="3657600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39312" y="987552"/>
            <a:ext cx="1682496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39312" y="987552"/>
            <a:ext cx="1682496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3639312" y="106070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685032" y="1609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1883664"/>
            <a:ext cx="146304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3712464" y="1947672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sobre las prácticas de ML2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estándares org. y adaptación al proyecto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usan y generan activos organizacionales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dual: proyecto y objetivos de la organización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39312" y="3465576"/>
            <a:ext cx="1682496" cy="5212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3639312" y="3483864"/>
            <a:ext cx="16824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67528" y="987552"/>
            <a:ext cx="1682496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67528" y="987552"/>
            <a:ext cx="1682496" cy="6400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1" name="Text 29"/>
          <p:cNvSpPr/>
          <p:nvPr/>
        </p:nvSpPr>
        <p:spPr>
          <a:xfrm>
            <a:off x="5367528" y="106070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413248" y="1609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Quant. Managed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77256" y="1883664"/>
            <a:ext cx="146304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1947672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sobre las prácticas de ML3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técnicas estadísticas y cuantitativas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activamente la variación de procesos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capacidad de alcanzar los QPPOs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67528" y="3291840"/>
            <a:ext cx="1682496" cy="69494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6" name="Text 34"/>
          <p:cNvSpPr/>
          <p:nvPr/>
        </p:nvSpPr>
        <p:spPr>
          <a:xfrm>
            <a:off x="5367528" y="3310128"/>
            <a:ext cx="1682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ML4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95744" y="987552"/>
            <a:ext cx="1682496" cy="2999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095744" y="987552"/>
            <a:ext cx="1682496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9" name="Text 37"/>
          <p:cNvSpPr/>
          <p:nvPr/>
        </p:nvSpPr>
        <p:spPr>
          <a:xfrm>
            <a:off x="7095744" y="1060704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7141464" y="1609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05472" y="1883664"/>
            <a:ext cx="146304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40"/>
          <p:cNvSpPr/>
          <p:nvPr/>
        </p:nvSpPr>
        <p:spPr>
          <a:xfrm>
            <a:off x="7168896" y="1947672"/>
            <a:ext cx="153619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sobre las prácticas de ML4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procesos estables y capaces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estadística para mejora continua sostenida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alcanzar los QPPOs de forma sistemática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95744" y="3118104"/>
            <a:ext cx="1682496" cy="8686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4" name="Text 42"/>
          <p:cNvSpPr/>
          <p:nvPr/>
        </p:nvSpPr>
        <p:spPr>
          <a:xfrm>
            <a:off x="7095744" y="3136392"/>
            <a:ext cx="16824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82880" y="4133088"/>
            <a:ext cx="877824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6" name="Text 44"/>
          <p:cNvSpPr/>
          <p:nvPr/>
        </p:nvSpPr>
        <p:spPr>
          <a:xfrm>
            <a:off x="182880" y="41879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Creciente madurez del proceso 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ML3 · DEFINED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más elegido en todo el mundo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4160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45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664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sobre ML2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todas las prácticas del nivel Managed y las amplía con estándares organizacionales.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63040"/>
            <a:ext cx="4160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64592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58968" y="16642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estandarizados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12140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el uso de estándares organizacionales y su adaptación a las características de cada proyecto.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00400"/>
            <a:ext cx="4160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33832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organizacionales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proyectos contribuyen a los activos compartidos de la organización y se benefician de ellos.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20040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200400"/>
            <a:ext cx="41605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338328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58968" y="34015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duales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858768"/>
            <a:ext cx="38221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lograr tanto los objetivos de rendimiento del proyecto como los de la organización.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46725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Tema 5: Alcanzar ML3 implica haber completado la fase de Instalación del SPI (aplicación de SPR). Es el nivel mínimo exigido en contratos públicos y licitaciones internacionales.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ML5 · OPTIMIZING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máximo de madurez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402336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caracteriza a ML5?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sobre todas las prácticas de ML4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técnicas estadísticas y cuantitativas avanzadas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procesos estables y capaces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la mejora de los QPPOs (Quality and Process Performance Objectives)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continua se convierte en cultura organizacional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4297680" cy="155448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Insight clave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9202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21% que elige ML5 refleja que las grandes organizaciones con experiencia acumulada en CMMI tienden a saltar directamente de ML3 a ML5, omitiendo ML4 como objetivo de evaluación.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4297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3200400"/>
            <a:ext cx="4297680" cy="640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3310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mejoras en organizaciones ML5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703320"/>
            <a:ext cx="3977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Density: −26%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Productivity: +24%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Delivery: +18%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Satisfaction: +18%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67258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Tema 5: ML5 corresponde a organizaciones que han completado el ciclo SPI y han institucionalizado la mejora continua como valor central.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 / ML2 / ML4  ·  Solo el 2% de las evaluaciones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74320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274320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6642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de cualquier organización que comienza con CMMI.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incompleto de prácticas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básico e inicial para cumplir los objetivos del Área de Práctica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 a identificar y abordar problemas de rendimiento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uso sistemático de activos organizacionales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78992"/>
            <a:ext cx="274320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78992"/>
            <a:ext cx="274320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115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6642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organización gestiona sus proyectos de forma estructurada pero aún sin estándares compartidos.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3774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todas las prácticas de ML1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simple pero completo de prácticas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activos organizacionales compartidos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y monitoriza el progreso hacia los objetivos del proyecto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 y recursos claramente definidos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078992"/>
            <a:ext cx="2743200" cy="3822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78992"/>
            <a:ext cx="2743200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115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11155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Quantitatively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0488" y="16642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avanzado que exige gestión estadística de procesos. Alta inversión requerida.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72200" y="23774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sobre todas las prácticas de ML3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técnicas estadísticas y cuantitativas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la variación de procesos de forma activa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la capacidad de alcanzar los QPPOs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madurez organizacional y datos históricos sólidos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636008"/>
            <a:ext cx="8686800" cy="3657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2024: ML1/ML2/ML4 subieron del 1% al 2%  ·  ¿Por qué ML4 apenas se elige? El Tema 5 lo explica: la ratio coste-beneficio frena su adopción frente a ML3.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ALCANZAR UN NIVEL DE MADUREZ: CREDIBILIDAD Y VENTAJA COMPETITIVA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1234440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91440" cy="1234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96112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"Alcanzar un nivel de madurez (ML) o de capacidad (CL) demuestra el compromiso de la organización con la calidad y la mejora continua del rendimiento. Este reconocimiento no solo refuerza la credibilidad ante sus clientes, sino que también consolida su ventaja competitiva en el mercado."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CMMI Technical Report, Mayo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274320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Credibilidad ante clientes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3383280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certificadas demuestran adherencia a las mejores prácticas CMMI, generando confianza en clientes y stakeholders.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2331720"/>
            <a:ext cx="274320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233172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383280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Diferenciarse de la competencia en licitaciones, contratos públicos y mercados internacionales donde CMMI es requisito.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743200" cy="25603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331720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sostenida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3383280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 establece un listón que se eleva automáticamente entre evaluaciones, forzando a la organización a seguir mejorando.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4700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Tema 5: SPI busca mejorar la calidad del proceso y, como consecuencia, la calidad del software entregado. La certificación CMMI es el aval externo de ese proceso.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Y REFLEXIÓN CRÍTICA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16276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35331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re-evaluaciones dominan el dato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certificaciones CMMI tienen validez de 3 años (Tema 5). Gran parte de las evaluaciones son renovaciones de ML3/ML5, confirmando que SPI es un proceso continuo, no un logro puntual.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109728" cy="16276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353312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3716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ML3 → ML5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938528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21% en ML5 evidencia que, una vez consolidado ML3, las empresas más maduras optan directamente por el nivel máximo en su siguiente evaluación.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109728" cy="16276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182112"/>
            <a:ext cx="502920" cy="502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de logro de objetivos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67328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organizaciones evaluadas, independientemente de su nivel, alcanzan el 91% de sus objetivos de rendimiento. Adoptar CMMI genera resultados reales en todos los niveles.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16052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17520"/>
            <a:ext cx="109728" cy="162763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3182112"/>
            <a:ext cx="502920" cy="5029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se vuelve hábito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767328"/>
            <a:ext cx="3767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CMMI convierte los procesos críticos en rutina, liberando a los equipos para la innovación. Esto conecta directamente con la fase de Evaluación del SPI (Tema 5).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EN EL CONTEXTO GLOBAL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326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España: 5º país del mundo y 1º de Europa en evaluaciones CMMI — 0,6% del total global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4206240" cy="512064"/>
          </a:xfrm>
          <a:prstGeom prst="rect">
            <a:avLst/>
          </a:prstGeom>
          <a:solidFill>
            <a:srgbClr val="0D3A6B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7556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7556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76,3%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22576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3225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225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225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288950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8895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28895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34564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4564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4564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4023360"/>
            <a:ext cx="4206240" cy="51206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023360"/>
            <a:ext cx="109728" cy="5120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402336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5º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40233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🇪🇸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023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755648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28" name="Text 26"/>
          <p:cNvSpPr/>
          <p:nvPr/>
        </p:nvSpPr>
        <p:spPr>
          <a:xfrm>
            <a:off x="4873752" y="175564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17556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175564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2322576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2" name="Text 30"/>
          <p:cNvSpPr/>
          <p:nvPr/>
        </p:nvSpPr>
        <p:spPr>
          <a:xfrm>
            <a:off x="4873752" y="232257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23225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 del Sur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232257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2889504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36" name="Text 34"/>
          <p:cNvSpPr/>
          <p:nvPr/>
        </p:nvSpPr>
        <p:spPr>
          <a:xfrm>
            <a:off x="4873752" y="288950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94960" y="28895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288950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3456432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40" name="Text 38"/>
          <p:cNvSpPr/>
          <p:nvPr/>
        </p:nvSpPr>
        <p:spPr>
          <a:xfrm>
            <a:off x="4873752" y="345643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9º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94960" y="34564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Arabia Saudí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94960" y="34564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4023360"/>
            <a:ext cx="4206240" cy="512064"/>
          </a:xfrm>
          <a:prstGeom prst="rect">
            <a:avLst/>
          </a:prstGeom>
          <a:solidFill>
            <a:srgbClr val="162B50"/>
          </a:solidFill>
          <a:ln/>
        </p:spPr>
      </p:sp>
      <p:sp>
        <p:nvSpPr>
          <p:cNvPr id="44" name="Text 42"/>
          <p:cNvSpPr/>
          <p:nvPr/>
        </p:nvSpPr>
        <p:spPr>
          <a:xfrm>
            <a:off x="4873752" y="402336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10º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94960" y="402336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Japón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94960" y="40233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8" name="Text 46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españolas del sector TIC apuestan por ML3 y ML5 como estándar de calidad en el mercado internacional.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sección Appraisals by Maturity Level revela: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8503920" cy="749808"/>
          </a:xfrm>
          <a:prstGeom prst="rect">
            <a:avLst/>
          </a:prstGeom>
          <a:solidFill>
            <a:srgbClr val="1A3A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ML3 como estándar global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2801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77% de las organizaciones se evalúa en ML3. Es el umbral mínimo exigido en el mercado y el punto de entrada al ciclo maduro de SPI.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344168"/>
            <a:ext cx="0" cy="5303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21408"/>
            <a:ext cx="8503920" cy="749808"/>
          </a:xfrm>
          <a:prstGeom prst="rect">
            <a:avLst/>
          </a:prstGeom>
          <a:solidFill>
            <a:srgbClr val="1A3A6B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85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ML5 como objetivo de excelencia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16712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21% en ML5 confirma la institucionalización de la mejora continua en las org. más maduras, conectando con la fase de Evaluación del Tema 5.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231136"/>
            <a:ext cx="0" cy="5303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08376"/>
            <a:ext cx="8503920" cy="749808"/>
          </a:xfrm>
          <a:prstGeom prst="rect">
            <a:avLst/>
          </a:prstGeom>
          <a:solidFill>
            <a:srgbClr val="1A3A6B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Ratio coste-beneficio siempre presente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05409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baja adopción de ML4 demuestra que las organizaciones evalúan el retorno de cada nivel, tal como señala el Tema 5 sobre la inversión en SPI.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118104"/>
            <a:ext cx="0" cy="5303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895344"/>
            <a:ext cx="8503920" cy="749808"/>
          </a:xfrm>
          <a:prstGeom prst="rect">
            <a:avLst/>
          </a:prstGeom>
          <a:solidFill>
            <a:srgbClr val="1A3A6B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59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Credibilidad y ventaja competitiva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394106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certificación CMMI refuerza la credibilidad ante clientes y consolida la ventaja competitiva en el mercado, según el propio informe.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4005072"/>
            <a:ext cx="0" cy="5303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CMMI Technical Report – Performance Results (Mayo 2025) · CMMI Institute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Appraisals by Maturity Level – CMMI 2025</dc:title>
  <dc:subject>PptxGenJS Presentation</dc:subject>
  <dc:creator>PptxGenJS</dc:creator>
  <cp:lastModifiedBy>PptxGenJS</cp:lastModifiedBy>
  <cp:revision>1</cp:revision>
  <dcterms:created xsi:type="dcterms:W3CDTF">2026-03-10T16:26:40Z</dcterms:created>
  <dcterms:modified xsi:type="dcterms:W3CDTF">2026-03-10T16:26:40Z</dcterms:modified>
</cp:coreProperties>
</file>